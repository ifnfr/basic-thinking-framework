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  <Relationship Id="rId10" Type="http://schemas.openxmlformats.org/officeDocument/2006/relationships/slide" Target="slides/slide1.xml"/>
  <Relationship Id="rId11" Type="http://schemas.openxmlformats.org/officeDocument/2006/relationships/slide" Target="slides/slide2.xml"/>
  <Relationship Id="rId12" Type="http://schemas.openxmlformats.org/officeDocument/2006/relationships/slide" Target="slides/slide3.xml"/>
  <Relationship Id="rId13" Type="http://schemas.openxmlformats.org/officeDocument/2006/relationships/slide" Target="slides/slide4.xml"/>
  <Relationship Id="rId14" Type="http://schemas.openxmlformats.org/officeDocument/2006/relationships/slide" Target="slides/slide5.xml"/>
  <Relationship Id="rId15" Type="http://schemas.openxmlformats.org/officeDocument/2006/relationships/slide" Target="slides/slide6.xml"/>
  <Relationship Id="rId16" Type="http://schemas.openxmlformats.org/officeDocument/2006/relationships/slide" Target="slides/slide7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<Relationship Id="rId19" Type="http://schemas.openxmlformats.org/officeDocument/2006/relationships/slide" Target="slides/slide10.xml"/>
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  <Relationship Id="rId26" Type="http://schemas.openxmlformats.org/officeDocument/2006/relationships/slide" Target="slides/slide17.xml"/>
  <Relationship Id="rId27" Type="http://schemas.openxmlformats.org/officeDocument/2006/relationships/slide" Target="slides/slide18.xml"/>
  <Relationship Id="rId10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2520000"/>
            <a:ext cx="9144000" cy="540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main_title"/>
          <p:cNvSpPr txBox="1"/>
          <p:nvPr/>
        </p:nvSpPr>
        <p:spPr>
          <a:xfrm>
            <a:off x="720000" y="1440000"/>
            <a:ext cx="7560000" cy="10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id-ID" sz="4400" b="1" dirty="0">
                <a:solidFill>
                  <a:srgbClr val="FFFFFF"/>
                </a:solidFill>
                <a:latin typeface="Calibri"/>
              </a:rPr>
              <a:t>ANALISIS AD-AS</a:t>
            </a:r>
          </a:p>
        </p:txBody>
      </p:sp>
      <p:sp>
        <p:nvSpPr>
          <p:cNvPr id="5" name="sub"/>
          <p:cNvSpPr txBox="1"/>
          <p:nvPr/>
        </p:nvSpPr>
        <p:spPr>
          <a:xfrm>
            <a:off x="720000" y="2700000"/>
            <a:ext cx="756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lang="id-ID" sz="2400" dirty="0">
                <a:solidFill>
                  <a:srgbClr val="D4A843"/>
                </a:solidFill>
                <a:latin typeface="Calibri"/>
              </a:rPr>
              <a:t>Aggregate Demand – Aggregate Supply</a:t>
            </a:r>
          </a:p>
          <a:p>
            <a:pPr algn="ctr">
              <a:spcAft>
                <a:spcPts val="1200"/>
              </a:spcAft>
            </a:pPr>
            <a:r>
              <a:rPr lang="id-ID" sz="1600" dirty="0">
                <a:solidFill>
                  <a:srgbClr val="ECF0F1"/>
                </a:solidFill>
                <a:latin typeface="Calibri"/>
              </a:rPr>
              <a:t>Keseimbangan Makroekonomi, Pergeseran Kurva, dan Dampaknya</a:t>
            </a:r>
          </a:p>
          <a:p>
            <a:pPr algn="ctr"/>
            <a:r>
              <a:rPr lang="id-ID" sz="1400" dirty="0">
                <a:solidFill>
                  <a:srgbClr val="ECF0F1"/>
                </a:solidFill>
                <a:latin typeface="Calibri"/>
              </a:rPr>
              <a:t>Presentasi Ekonomi Makro</a:t>
            </a:r>
          </a:p>
        </p:txBody>
      </p:sp>
    </p:spTree>
  </p:cSld>
</p:sld>
</file>

<file path=ppt/slides/slide2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header_bar"/><p:cNvSpPr/><p:nvPr/></p:nvSpPr>
      <p:spPr>
        <a:xfrm><a:off x="0" y="0"/><a:ext cx="9144000" cy="792000"/></a:xfrm>
        <a:prstGeom prst="rect"><a:avLst/></a:prstGeom>
        <a:solidFill><a:srgbClr val="1B3A5C"/></a:solidFill>
        <a:ln><a:noFill/></a:ln>
      </p:spPr>
    </p:sp><p:sp>
      <p:nvSpPr><p:cNvPr id="3" name="accent_line"/><p:cNvSpPr/><p:nvPr/></p:nvSpPr>
      <p:spPr>
        <a:xfrm><a:off x="0" y="792000"/><a:ext cx="9144000" cy="28800"/></a:xfrm>
        <a:prstGeom prst="rect"><a:avLst/></a:prstGeom>
        <a:solidFill><a:srgbClr val="D4A843"/></a:solidFill>
        <a:ln><a:noFill/></a:ln>
      </p:spPr>
    </p:sp><p:sp>
      <p:nvSpPr><p:cNvPr id="4" name="title"/><p:cNvSpPr txBox="1"/><p:nvPr/></p:nvSpPr>
      <p:spPr>
        <a:xfrm><a:off x="540000" y="108000"/><a:ext cx="7920000" cy="54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2800" b="1" dirty="0">
            <a:solidFill><a:srgbClr val="FFFFFF"/></a:solidFill>
            <a:latin typeface="Calibri"/>
          </a:rPr><a:t>AGENDA PRESENTASI</a:t></a:r>
        </a:p>
      </p:txBody>
    </p:sp><p:sp>
      <p:nvSpPr><p:cNvPr id="10" name="num_0"/><p:cNvSpPr txBox="1"/><p:nvPr/></p:nvSpPr>
      <p:spPr>
        <a:xfrm><a:off x="720000" y="108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1</a:t></a:r>
        </a:p>
      </p:txBody>
    </p:sp><p:sp>
      <p:nvSpPr><p:cNvPr id="11" name="item_0"/><p:cNvSpPr txBox="1"/><p:nvPr/></p:nvSpPr>
      <p:spPr>
        <a:xfrm><a:off x="1440000" y="113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Konsep Dasar AD-AS</a:t></a:r>
        </a:p>
      </p:txBody>
    </p:sp><p:sp>
      <p:nvSpPr><p:cNvPr id="12" name="num_1"/><p:cNvSpPr txBox="1"/><p:nvPr/></p:nvSpPr>
      <p:spPr>
        <a:xfrm><a:off x="720000" y="180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2</a:t></a:r>
        </a:p>
      </p:txBody>
    </p:sp><p:sp>
      <p:nvSpPr><p:cNvPr id="13" name="item_1"/><p:cNvSpPr txBox="1"/><p:nvPr/></p:nvSpPr>
      <p:spPr>
        <a:xfrm><a:off x="1440000" y="185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Faktor Penentu & Pergeseran Kurva AD</a:t></a:r>
        </a:p>
      </p:txBody>
    </p:sp><p:sp>
      <p:nvSpPr><p:cNvPr id="14" name="num_2"/><p:cNvSpPr txBox="1"/><p:nvPr/></p:nvSpPr>
      <p:spPr>
        <a:xfrm><a:off x="720000" y="252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3</a:t></a:r>
        </a:p>
      </p:txBody>
    </p:sp><p:sp>
      <p:nvSpPr><p:cNvPr id="15" name="item_2"/><p:cNvSpPr txBox="1"/><p:nvPr/></p:nvSpPr>
      <p:spPr>
        <a:xfrm><a:off x="1440000" y="257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Bentuk Kurva AS & Penyebabnya</a:t></a:r>
        </a:p>
      </p:txBody>
    </p:sp><p:sp>
      <p:nvSpPr><p:cNvPr id="16" name="num_3"/><p:cNvSpPr txBox="1"/><p:nvPr/></p:nvSpPr>
      <p:spPr>
        <a:xfrm><a:off x="720000" y="324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4</a:t></a:r>
        </a:p>
      </p:txBody>
    </p:sp><p:sp>
      <p:nvSpPr><p:cNvPr id="17" name="item_3"/><p:cNvSpPr txBox="1"/><p:nvPr/></p:nvSpPr>
      <p:spPr>
        <a:xfrm><a:off x="1440000" y="329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Keseimbangan AD-AS & Dampak Perdagangan</a:t></a:r>
        </a:p>
      </p:txBody>
    </p:sp><p:sp>
      <p:nvSpPr><p:cNvPr id="18" name="num_4"/><p:cNvSpPr txBox="1"/><p:nvPr/></p:nvSpPr>
      <p:spPr>
        <a:xfrm><a:off x="720000" y="396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5</a:t></a:r>
        </a:p>
      </p:txBody>
    </p:sp><p:sp>
      <p:nvSpPr><p:cNvPr id="19" name="item_4"/><p:cNvSpPr txBox="1"/><p:nvPr/></p:nvSpPr>
      <p:spPr>
        <a:xfrm><a:off x="1440000" y="401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Perubahan Keseimbangan: Fiskal, Teknologi, Investasi</a:t></a:r>
        </a:p>
      </p:txBody>
    </p:sp><p:sp>
      <p:nvSpPr><p:cNvPr id="20" name="num_5"/><p:cNvSpPr txBox="1"/><p:nvPr/></p:nvSpPr>
      <p:spPr>
        <a:xfrm><a:off x="720000" y="4680000"/><a:ext cx="432000" cy="432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/a:pPr>
          <a:r><a:rPr lang="id-ID" sz="2000" b="1" dirty="0">
            <a:solidFill><a:srgbClr val="FFFFFF"/></a:solidFill>
            <a:latin typeface="Calibri"/>
          </a:rPr><a:t>6</a:t></a:r>
        </a:p>
      </p:txBody>
    </p:sp><p:sp>
      <p:nvSpPr><p:cNvPr id="21" name="item_5"/><p:cNvSpPr txBox="1"/><p:nvPr/></p:nvSpPr>
      <p:spPr>
        <a:xfrm><a:off x="1440000" y="4734000"/><a:ext cx="6480000" cy="432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800" dirty="0">
            <a:solidFill><a:srgbClr val="2C3E50"/></a:solidFill>
            <a:latin typeface="Calibri"/>
          </a:rPr><a:t>Pergeseran Kurva AS & Efeknya</a:t></a:r>
        </a:p>
      </p:txBody>
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1a. Analisis AD-AS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Kerangka Analisis Makroekonomi</a:t>
            </a:r>
          </a:p>
        </p:txBody>
      </p:sp>
      <p:sp>
        <p:nvSpPr>
          <p:cNvPr id="10" name="narasi"/>
          <p:cNvSpPr txBox="1"/>
          <p:nvPr/>
        </p:nvSpPr>
        <p:spPr>
          <a:xfrm>
            <a:off x="540000" y="1080000"/>
            <a:ext cx="7920000" cy="21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id-ID" sz="1600" dirty="0">
                <a:solidFill>
                  <a:srgbClr val="2C3E50"/>
                </a:solidFill>
                <a:latin typeface="Calibri"/>
              </a:rPr>
              <a:t>Analisis AD-AS mempertemukan kurva Permintaan Agregat (AD) dan Penawaran Agregat (AS) untuk menentukan dua variabel makro secara simultan:</a:t>
            </a:r>
          </a:p>
          <a:p>
            <a:pPr algn="l">
              <a:spcAft>
                <a:spcPts val="300"/>
              </a:spcAft>
            </a:pPr>
            <a:r>
              <a:rPr lang="id-ID" sz="1600" b="1" dirty="0">
                <a:solidFill>
                  <a:srgbClr val="2E5B8A"/>
                </a:solidFill>
                <a:latin typeface="Calibri"/>
              </a:rPr>
              <a:t>•  Tingkat harga umum (P)</a:t>
            </a:r>
          </a:p>
          <a:p>
            <a:pPr algn="l">
              <a:spcAft>
                <a:spcPts val="800"/>
              </a:spcAft>
            </a:pPr>
            <a:r>
              <a:rPr lang="id-ID" sz="1600" b="1" dirty="0">
                <a:solidFill>
                  <a:srgbClr val="2E5B8A"/>
                </a:solidFill>
                <a:latin typeface="Calibri"/>
              </a:rPr>
              <a:t>•  Pendapatan nasional riil (Y)</a:t>
            </a:r>
          </a:p>
          <a:p>
            <a:pPr algn="l"/>
            <a:r>
              <a:rPr lang="id-ID" sz="1500" dirty="0">
                <a:solidFill>
                  <a:srgbClr val="2C3E50"/>
                </a:solidFill>
                <a:latin typeface="Calibri"/>
              </a:rPr>
              <a:t>Keunggulan utama dibanding analisis Keynesian sederhana: memasukkan perubahan tingkat harga sebagai variabel endogen, sehingga mampu menjelaskan inflasi, stagflasi, dan resesi dalam satu kerangka.</a:t>
            </a:r>
          </a:p>
        </p:txBody>
      </p:sp>
      <p:sp>
        <p:nvSpPr>
          <p:cNvPr id="20" name="visual_box"/>
          <p:cNvSpPr txBox="1"/>
          <p:nvPr/>
        </p:nvSpPr>
        <p:spPr>
          <a:xfrm>
            <a:off x="1080000" y="3960000"/>
            <a:ext cx="6840000" cy="1620000"/>
          </a:xfrm>
          <a:prstGeom prst="roundRect">
            <a:avLst/>
          </a:prstGeom>
          <a:solidFill>
            <a:srgbClr val="2E5B8A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800" b="1" dirty="0">
                <a:solidFill>
                  <a:srgbClr val="FFFFFF"/>
                </a:solidFill>
                <a:latin typeface="Calibri"/>
              </a:rPr>
              <a:t>Titik Perpotongan AD ∩ AS = Keseimbangan Makroekonomi</a:t>
            </a:r>
          </a:p>
          <a:p>
            <a:pPr algn="ctr"/>
            <a:r>
              <a:rPr lang="id-ID" sz="1500" dirty="0">
                <a:solidFill>
                  <a:srgbClr val="D4A843"/>
                </a:solidFill>
                <a:latin typeface="Calibri"/>
              </a:rPr>
              <a:t>Jumlah output diminta = Jumlah output ditawarkan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1b. Pengeluaran Agregat (AE)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Aggregate Expenditure</a:t>
            </a:r>
          </a:p>
        </p:txBody>
      </p:sp>
      <p:sp>
        <p:nvSpPr>
          <p:cNvPr id="10" name="def"/>
          <p:cNvSpPr txBox="1"/>
          <p:nvPr/>
        </p:nvSpPr>
        <p:spPr>
          <a:xfrm>
            <a:off x="540000" y="1080000"/>
            <a:ext cx="7920000" cy="14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lang="id-ID" sz="1600" dirty="0">
                <a:solidFill>
                  <a:srgbClr val="2C3E50"/>
                </a:solidFill>
                <a:latin typeface="Calibri"/>
              </a:rPr>
              <a:t>Total pembelanjaan atas barang dan jasa dalam perekonomian pada tingkat harga tertentu (given/tetap).</a:t>
            </a:r>
          </a:p>
          <a:p>
            <a:pPr algn="l"/>
            <a:r>
              <a:rPr lang="id-ID" sz="1500" dirty="0">
                <a:solidFill>
                  <a:srgbClr val="2C3E50"/>
                </a:solidFill>
                <a:latin typeface="Calibri"/>
              </a:rPr>
              <a:t>Menjadi dasar analisis Keynesian Cross dan titik awal menurunkan kurva AD.</a:t>
            </a:r>
          </a:p>
        </p:txBody>
      </p:sp>
      <p:sp>
        <p:nvSpPr>
          <p:cNvPr id="20" name="formula"/>
          <p:cNvSpPr txBox="1"/>
          <p:nvPr/>
        </p:nvSpPr>
        <p:spPr>
          <a:xfrm>
            <a:off x="1440000" y="2880000"/>
            <a:ext cx="6120000" cy="1080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2800" b="1" dirty="0">
                <a:solidFill>
                  <a:srgbClr val="FFFFFF"/>
                </a:solidFill>
                <a:latin typeface="Calibri"/>
              </a:rPr>
              <a:t>AE = C + I + G + (X – M)</a:t>
            </a:r>
          </a:p>
        </p:txBody>
      </p:sp>
      <p:sp>
        <p:nvSpPr>
          <p:cNvPr id="25" name="legend"/>
          <p:cNvSpPr txBox="1"/>
          <p:nvPr/>
        </p:nvSpPr>
        <p:spPr>
          <a:xfrm>
            <a:off x="720000" y="4320000"/>
            <a:ext cx="7560000" cy="1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C = Konsumsi rumah tangga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I = Investasi swasta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G = Pengeluaran pemerintah</a:t>
            </a:r>
          </a:p>
          <a:p>
            <a:pPr algn="l"/>
            <a:r>
              <a:rPr lang="id-ID" sz="1400" dirty="0">
                <a:solidFill>
                  <a:srgbClr val="2C3E50"/>
                </a:solidFill>
                <a:latin typeface="Calibri"/>
              </a:rPr>
              <a:t>X – M = Ekspor bersih (ekspor dikurangi impor)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1c. Permintaan Agregat (AD)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Aggregate Demand</a:t>
            </a:r>
          </a:p>
        </p:txBody>
      </p:sp>
      <p:sp>
        <p:nvSpPr>
          <p:cNvPr id="10" name="def"/>
          <p:cNvSpPr txBox="1"/>
          <p:nvPr/>
        </p:nvSpPr>
        <p:spPr>
          <a:xfrm>
            <a:off x="540000" y="1080000"/>
            <a:ext cx="4680000" cy="3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id-ID" sz="1500" dirty="0">
                <a:solidFill>
                  <a:srgbClr val="2C3E50"/>
                </a:solidFill>
                <a:latin typeface="Calibri"/>
              </a:rPr>
              <a:t>Jumlah seluruh barang dan jasa yang diminta pada berbagai tingkat harga oleh seluruh pelaku ekonomi.</a:t>
            </a:r>
          </a:p>
          <a:p>
            <a:pPr algn="l">
              <a:spcAft>
                <a:spcPts val="500"/>
              </a:spcAft>
            </a:pPr>
            <a:r>
              <a:rPr lang="id-ID" sz="1500" b="1" dirty="0">
                <a:solidFill>
                  <a:srgbClr val="2C3E50"/>
                </a:solidFill>
                <a:latin typeface="Calibri"/>
              </a:rPr>
              <a:t>Kurva AD berslope negatif (↘) karena tiga efek:</a:t>
            </a:r>
          </a:p>
          <a:p>
            <a:pPr algn="l">
              <a:spcAft>
                <a:spcPts val="200"/>
              </a:spcAft>
            </a:pPr>
            <a:r>
              <a:rPr lang="id-ID" sz="1400" b="1" dirty="0">
                <a:solidFill>
                  <a:srgbClr val="C0392B"/>
                </a:solidFill>
                <a:latin typeface="Calibri"/>
              </a:rPr>
              <a:t>1. Efek Kekayaan Riil (Pigou)</a:t>
            </a:r>
          </a:p>
          <a:p>
            <a:pPr algn="l">
              <a:spcAft>
                <a:spcPts val="400"/>
              </a:spcAft>
            </a:pPr>
            <a:r>
              <a:rPr lang="id-ID" sz="1300" dirty="0">
                <a:solidFill>
                  <a:srgbClr val="2C3E50"/>
                </a:solidFill>
                <a:latin typeface="Calibri"/>
              </a:rPr>
              <a:t>    P↑ → kekayaan riil↓ → C↓</a:t>
            </a:r>
          </a:p>
          <a:p>
            <a:pPr algn="l">
              <a:spcAft>
                <a:spcPts val="200"/>
              </a:spcAft>
            </a:pPr>
            <a:r>
              <a:rPr lang="id-ID" sz="1400" b="1" dirty="0">
                <a:solidFill>
                  <a:srgbClr val="2E5B8A"/>
                </a:solidFill>
                <a:latin typeface="Calibri"/>
              </a:rPr>
              <a:t>2. Efek Suku Bunga (Keynes)</a:t>
            </a:r>
          </a:p>
          <a:p>
            <a:pPr algn="l">
              <a:spcAft>
                <a:spcPts val="400"/>
              </a:spcAft>
            </a:pPr>
            <a:r>
              <a:rPr lang="id-ID" sz="1300" dirty="0">
                <a:solidFill>
                  <a:srgbClr val="2C3E50"/>
                </a:solidFill>
                <a:latin typeface="Calibri"/>
              </a:rPr>
              <a:t>    P↑ → Md↑ → i↑ → I↓</a:t>
            </a:r>
          </a:p>
          <a:p>
            <a:pPr algn="l">
              <a:spcAft>
                <a:spcPts val="200"/>
              </a:spcAft>
            </a:pPr>
            <a:r>
              <a:rPr lang="id-ID" sz="1400" b="1" dirty="0">
                <a:solidFill>
                  <a:srgbClr val="27AE60"/>
                </a:solidFill>
                <a:latin typeface="Calibri"/>
              </a:rPr>
              <a:t>3. Efek Perdagangan Internasional</a:t>
            </a:r>
          </a:p>
          <a:p>
            <a:pPr algn="l"/>
            <a:r>
              <a:rPr lang="id-ID" sz="1300" dirty="0">
                <a:solidFill>
                  <a:srgbClr val="2C3E50"/>
                </a:solidFill>
                <a:latin typeface="Calibri"/>
              </a:rPr>
              <a:t>    P↑ → barang domestik mahal → X↓, M↑</a:t>
            </a:r>
          </a:p>
        </p:txBody>
      </p:sp>
      <p:sp>
        <p:nvSpPr>
          <p:cNvPr id="30" name="graph_label"/>
          <p:cNvSpPr txBox="1"/>
          <p:nvPr/>
        </p:nvSpPr>
        <p:spPr>
          <a:xfrm>
            <a:off x="5760000" y="1260000"/>
            <a:ext cx="2700000" cy="3240000"/>
          </a:xfrm>
          <a:prstGeom prst="roundRect">
            <a:avLst/>
          </a:prstGeom>
          <a:solidFill>
            <a:srgbClr val="2E5B8A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600"/>
              </a:spcAft>
            </a:pPr>
            <a:r>
              <a:rPr lang="id-ID" sz="1600" b="1" dirty="0">
                <a:solidFill>
                  <a:srgbClr val="FFFFFF"/>
                </a:solidFill>
                <a:latin typeface="Calibri"/>
              </a:rPr>
              <a:t>Kurva AD</a:t>
            </a:r>
          </a:p>
          <a:p>
            <a:pPr algn="l">
              <a:spcAft>
                <a:spcPts val="300"/>
              </a:spcAft>
            </a:pPr>
            <a:r>
              <a:rPr lang="id-ID" sz="1800" b="1" dirty="0">
                <a:solidFill>
                  <a:srgbClr val="D4A843"/>
                </a:solidFill>
                <a:latin typeface="Calibri"/>
              </a:rPr>
              <a:t>P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FFFFFF"/>
                </a:solidFill>
                <a:latin typeface="Calibri"/>
              </a:rPr>
              <a:t> ↑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FFFFFF"/>
                </a:solidFill>
                <a:latin typeface="Calibri"/>
              </a:rPr>
              <a:t> |\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FFFFFF"/>
                </a:solidFill>
                <a:latin typeface="Calibri"/>
              </a:rPr>
              <a:t> |  \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FFFFFF"/>
                </a:solidFill>
                <a:latin typeface="Calibri"/>
              </a:rPr>
              <a:t> |    \ AD</a:t>
            </a:r>
          </a:p>
          <a:p>
            <a:pPr algn="l"/>
            <a:r>
              <a:rPr lang="id-ID" sz="1400" dirty="0">
                <a:solidFill>
                  <a:srgbClr val="FFFFFF"/>
                </a:solidFill>
                <a:latin typeface="Calibri"/>
              </a:rPr>
              <a:t> |______→ 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1d. Penawaran Agregat (AS)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Aggregate Supply</a:t>
            </a:r>
          </a:p>
        </p:txBody>
      </p:sp>
      <p:sp>
        <p:nvSpPr>
          <p:cNvPr id="10" name="def"/>
          <p:cNvSpPr txBox="1"/>
          <p:nvPr/>
        </p:nvSpPr>
        <p:spPr>
          <a:xfrm>
            <a:off x="540000" y="1080000"/>
            <a:ext cx="7920000" cy="4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id-ID" sz="1600" dirty="0">
                <a:solidFill>
                  <a:srgbClr val="2C3E50"/>
                </a:solidFill>
                <a:latin typeface="Calibri"/>
              </a:rPr>
              <a:t>Jumlah seluruh barang dan jasa yang ditawarkan (diproduksi) oleh perusahaan pada berbagai tingkat harga.</a:t>
            </a:r>
          </a:p>
          <a:p>
            <a:pPr algn="l">
              <a:spcAft>
                <a:spcPts val="500"/>
              </a:spcAft>
            </a:pPr>
            <a:r>
              <a:rPr lang="id-ID" sz="1500" b="1" dirty="0">
                <a:solidFill>
                  <a:srgbClr val="2C3E50"/>
                </a:solidFill>
                <a:latin typeface="Calibri"/>
              </a:rPr>
              <a:t>Kurva AS berslope positif (↗) karena:</a:t>
            </a:r>
          </a:p>
          <a:p>
            <a:pPr algn="l"/>
            <a:r>
              <a:rPr lang="id-ID" sz="1500" dirty="0">
                <a:solidFill>
                  <a:srgbClr val="2C3E50"/>
                </a:solidFill>
                <a:latin typeface="Calibri"/>
              </a:rPr>
              <a:t>Ketika harga naik, harga jual meningkat lebih cepat daripada biaya produksi (terutama upah nominal yang bersifat kaku/sticky dalam jangka pendek), sehingga laba per unit naik dan produsen terdorong memperbesar output.</a:t>
            </a:r>
          </a:p>
        </p:txBody>
      </p:sp>
    </p:spTree>
  </p:cSld>
</p:sld>
</file>

<file path=ppt/slides/slide7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header_bar"/><p:cNvSpPr/><p:nvPr/></p:nvSpPr>
      <p:spPr>
        <a:xfrm><a:off x="0" y="0"/><a:ext cx="9144000" cy="792000"/></a:xfrm>
        <a:prstGeom prst="rect"><a:avLst/></a:prstGeom>
        <a:solidFill><a:srgbClr val="1B3A5C"/></a:solidFill>
        <a:ln><a:noFill/></a:ln>
      </p:spPr>
    </p:sp><p:sp>
      <p:nvSpPr><p:cNvPr id="3" name="accent_line"/><p:cNvSpPr/><p:nvPr/></p:nvSpPr>
      <p:spPr>
        <a:xfrm><a:off x="0" y="792000"/><a:ext cx="9144000" cy="28800"/></a:xfrm>
        <a:prstGeom prst="rect"><a:avLst/></a:prstGeom>
        <a:solidFill><a:srgbClr val="D4A843"/></a:solidFill>
        <a:ln><a:noFill/></a:ln>
      </p:spPr>
    </p:sp><p:sp>
      <p:nvSpPr><p:cNvPr id="4" name="title"/><p:cNvSpPr txBox="1"/><p:nvPr/></p:nvSpPr>
      <p:spPr>
        <a:xfrm><a:off x="540000" y="108000"/><a:ext cx="7920000" cy="54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2800" b="1" dirty="0">
            <a:solidFill><a:srgbClr val="FFFFFF"/></a:solidFill>
            <a:latin typeface="Calibri"/>
          </a:rPr><a:t>2. Faktor Penentu Kedudukan Kurva AD</a:t></a:r>
        </a:p>
      </p:txBody>
    </p:sp><p:sp>
      <p:nvSpPr><p:cNvPr id="10" name="narasi"/><p:cNvSpPr txBox="1"/><p:nvPr/></p:nvSpPr>
      <p:spPr>
        <a:xfrm><a:off x="540000" y="1007999"/><a:ext cx="7920000" cy="108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500" dirty="0">
            <a:solidFill><a:srgbClr val="2C3E50"/></a:solidFill>
            <a:latin typeface="Calibri"/>
          </a:rPr><a:t>Posisi kurva AD ditentukan oleh semua variabel yang memengaruhi pengeluaran agregat selain tingkat harga itu sendiri:</a:t></a:r>
        </a:p>
      </p:txBody>
    </p:sp><p:sp>
      <p:nvSpPr><p:cNvPr id="20" name="col1"/><p:cNvSpPr txBox="1"/><p:nvPr/></p:nvSpPr>
      <p:spPr>
        <a:xfrm><a:off x="432000" y="1980000"/><a:ext cx="3780000" cy="3240000"/></a:xfrm>
        <a:prstGeom prst="roundRect"><a:avLst/></a:prstGeom>
        <a:solidFill><a:srgbClr val="2E5B8A"/></a:solidFill>
        <a:ln><a:noFill/></a:ln>
      </p:spPr>
      <p:txBody>
        <a:bodyPr wrap="square" anchor="ctr" lIns="91440" rIns="91440" tIns="45720" bIns="45720"/>
        <a:lstStyle/>
        <a:p>
          <a:pPr algn="ctr"><a:spcAft><a:spcPts val="500"/></a:spcAft></a:pPr>
          <a:r><a:rPr lang="id-ID" sz="1500" b="1" dirty="0">
            <a:solidFill><a:srgbClr val="FFFFFF"/></a:solidFill>
            <a:latin typeface="Calibri"/>
          </a:rPr><a:t>Faktor-faktor Penentu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Pendapatan disposabel (C)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Suku bunga & kredit (I)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Ekspektasi pelaku ekonomi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Kebijakan fiskal (G, T)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Kebijakan moneter (M, i)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Kondisi ekonomi luar negeri</a:t></a:r>
        </a:p><a:p>
          <a:pPr algn="l"><a:spcAft><a:spcPts val="200"/></a:spcAft></a:pPr>
          <a:r><a:rPr lang="id-ID" sz="1300" dirty="0">
            <a:solidFill><a:srgbClr val="FFFFFF"/></a:solidFill>
            <a:latin typeface="Calibri"/>
          </a:rPr><a:t>• Nilai tukar (kurs)</a:t></a:r>
        </a:p><a:p>
          <a:pPr algn="l"></a:pPr>
          <a:r><a:rPr lang="id-ID" sz="1300" dirty="0">
            <a:solidFill><a:srgbClr val="FFFFFF"/></a:solidFill>
            <a:latin typeface="Calibri"/>
          </a:rPr><a:t>• Kekayaan riil masyarakat</a:t></a:r>
        </a:p>
      </p:txBody>
    </p:sp><p:sp>
      <p:nvSpPr><p:cNvPr id="30" name="col2_right"/><p:cNvSpPr txBox="1"/><p:nvPr/></p:nvSpPr>
      <p:spPr>
        <a:xfrm><a:off x="4500000" y="1980000"/><a:ext cx="4140000" cy="1440000"/></a:xfrm>
        <a:prstGeom prst="roundRect"><a:avLst/></a:prstGeom>
        <a:solidFill><a:srgbClr val="27AE60"/></a:solidFill>
        <a:ln><a:noFill/></a:ln>
      </p:spPr>
      <p:txBody>
        <a:bodyPr wrap="square" anchor="ctr" lIns="91440" rIns="91440" tIns="45720" bIns="45720"/>
        <a:lstStyle/>
        <a:p>
          <a:pPr algn="ctr"><a:spcAft><a:spcPts val="300"/></a:spcAft></a:pPr>
          <a:r><a:rPr lang="id-ID" sz="1500" b="1" dirty="0">
            <a:solidFill><a:srgbClr val="FFFFFF"/></a:solidFill>
            <a:latin typeface="Calibri"/>
          </a:rPr><a:t>AD Geser ke KANAN →</a:t></a:r>
        </a:p><a:p>
          <a:pPr algn="ctr"><a:spcAft><a:spcPts val="200"/></a:spcAft></a:pPr>
          <a:r><a:rPr lang="id-ID" sz="1300" dirty="0">
            <a:solidFill><a:srgbClr val="D4A843"/></a:solidFill>
            <a:latin typeface="Calibri"/>
          </a:rPr><a:t>G↑, Pajak↓, M↑, i↓</a:t></a:r>
        </a:p><a:p>
          <a:pPr algn="ctr"></a:pPr>
          <a:r><a:rPr lang="id-ID" sz="1300" dirty="0">
            <a:solidFill><a:srgbClr val="D4A843"/></a:solidFill>
            <a:latin typeface="Calibri"/>
          </a:rPr><a:t>Ekspor↑, Optimisme↑, Kekayaan↑</a:t></a:r>
        </a:p>
      </p:txBody>
    </p:sp><p:sp>
      <p:nvSpPr><p:cNvPr id="35" name="col2_left"/><p:cNvSpPr txBox="1"/><p:nvPr/></p:nvSpPr>
      <p:spPr>
        <a:xfrm><a:off x="4500000" y="3780000"/><a:ext cx="4140000" cy="1440000"/></a:xfrm>
        <a:prstGeom prst="roundRect"><a:avLst/></a:prstGeom>
        <a:solidFill><a:srgbClr val="C0392B"/></a:solidFill>
        <a:ln><a:noFill/></a:ln>
      </p:spPr>
      <p:txBody>
        <a:bodyPr wrap="square" anchor="ctr" lIns="91440" rIns="91440" tIns="45720" bIns="45720"/>
        <a:lstStyle/>
        <a:p>
          <a:pPr algn="ctr"><a:spcAft><a:spcPts val="300"/></a:spcAft></a:pPr>
          <a:r><a:rPr lang="id-ID" sz="1500" b="1" dirty="0">
            <a:solidFill><a:srgbClr val="FFFFFF"/></a:solidFill>
            <a:latin typeface="Calibri"/>
          </a:rPr><a:t>← AD Geser ke KIRI</a:t></a:r>
        </a:p><a:p>
          <a:pPr algn="ctr"><a:spcAft><a:spcPts val="200"/></a:spcAft></a:pPr>
          <a:r><a:rPr lang="id-ID" sz="1300" dirty="0">
            <a:solidFill><a:srgbClr val="D4A843"/></a:solidFill>
            <a:latin typeface="Calibri"/>
          </a:rPr><a:t>G↓, Pajak↑, M↓, i↑</a:t></a:r>
        </a:p><a:p>
          <a:pPr algn="ctr"></a:pPr>
          <a:r><a:rPr lang="id-ID" sz="1300" dirty="0">
            <a:solidFill><a:srgbClr val="D4A843"/></a:solidFill>
            <a:latin typeface="Calibri"/>
          </a:rPr><a:t>Ekspor↓, Pesimisme↑, Kekayaan↓</a:t></a:r>
        </a:p>
      </p:txBody>
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3a. Tiga Bentuk Kurva AS</a:t>
            </a:r>
          </a:p>
        </p:txBody>
      </p:sp>
      <p:sp>
        <p:nvSpPr>
          <p:cNvPr id="10" name="keynesian"/>
          <p:cNvSpPr txBox="1"/>
          <p:nvPr/>
        </p:nvSpPr>
        <p:spPr>
          <a:xfrm>
            <a:off x="288000" y="1152000"/>
            <a:ext cx="2592000" cy="4320000"/>
          </a:xfrm>
          <a:prstGeom prst="roundRect">
            <a:avLst/>
          </a:prstGeom>
          <a:solidFill>
            <a:srgbClr val="2E5B8A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KEYNESIAN</a:t>
            </a:r>
          </a:p>
          <a:p>
            <a:pPr algn="ctr">
              <a:spcAft>
                <a:spcPts val="500"/>
              </a:spcAft>
            </a:pPr>
            <a:r>
              <a:rPr lang="id-ID" sz="1300" dirty="0">
                <a:solidFill>
                  <a:srgbClr val="D4A843"/>
                </a:solidFill>
                <a:latin typeface="Calibri"/>
              </a:rPr>
              <a:t>(Horizontal)</a:t>
            </a:r>
          </a:p>
          <a:p>
            <a:pPr algn="ctr">
              <a:spcAft>
                <a:spcPts val="400"/>
              </a:spcAft>
            </a:pPr>
            <a:r>
              <a:rPr lang="id-ID" sz="1200" dirty="0">
                <a:solidFill>
                  <a:srgbClr val="FFFFFF"/>
                </a:solidFill>
                <a:latin typeface="Calibri"/>
              </a:rPr>
              <a:t>Berlaku saat perekonomian jauh di bawah full employment.</a:t>
            </a:r>
          </a:p>
          <a:p>
            <a:pPr algn="ctr"/>
            <a:r>
              <a:rPr lang="id-ID" sz="1200" dirty="0">
                <a:solidFill>
                  <a:srgbClr val="FFFFFF"/>
                </a:solidFill>
                <a:latin typeface="Calibri"/>
              </a:rPr>
              <a:t>Output dapat ditambah tanpa menaikkan harga karena banyak kapasitas menganggur.</a:t>
            </a:r>
          </a:p>
        </p:txBody>
      </p:sp>
      <p:sp>
        <p:nvSpPr>
          <p:cNvPr id="15" name="intermediate"/>
          <p:cNvSpPr txBox="1"/>
          <p:nvPr/>
        </p:nvSpPr>
        <p:spPr>
          <a:xfrm>
            <a:off x="3168000" y="1152000"/>
            <a:ext cx="2592000" cy="432000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PERANTARA</a:t>
            </a:r>
          </a:p>
          <a:p>
            <a:pPr algn="ctr">
              <a:spcAft>
                <a:spcPts val="500"/>
              </a:spcAft>
            </a:pPr>
            <a:r>
              <a:rPr lang="id-ID" sz="1300" dirty="0">
                <a:solidFill>
                  <a:srgbClr val="D4A843"/>
                </a:solidFill>
                <a:latin typeface="Calibri"/>
              </a:rPr>
              <a:t>(Lengkung Positif)</a:t>
            </a:r>
          </a:p>
          <a:p>
            <a:pPr algn="ctr">
              <a:spcAft>
                <a:spcPts val="400"/>
              </a:spcAft>
            </a:pPr>
            <a:r>
              <a:rPr lang="id-ID" sz="1200" dirty="0">
                <a:solidFill>
                  <a:srgbClr val="FFFFFF"/>
                </a:solidFill>
                <a:latin typeface="Calibri"/>
              </a:rPr>
              <a:t>Paling realistis. Landai di awal, semakin curam mendekati YF.</a:t>
            </a:r>
          </a:p>
          <a:p>
            <a:pPr algn="ctr"/>
            <a:r>
              <a:rPr lang="id-ID" sz="1200" dirty="0">
                <a:solidFill>
                  <a:srgbClr val="FFFFFF"/>
                </a:solidFill>
                <a:latin typeface="Calibri"/>
              </a:rPr>
              <a:t>Sintesis pandangan Keynes dan Klasik.</a:t>
            </a:r>
          </a:p>
        </p:txBody>
      </p:sp>
      <p:sp>
        <p:nvSpPr>
          <p:cNvPr id="20" name="classical"/>
          <p:cNvSpPr txBox="1"/>
          <p:nvPr/>
        </p:nvSpPr>
        <p:spPr>
          <a:xfrm>
            <a:off x="6048000" y="1152000"/>
            <a:ext cx="2592000" cy="432000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KLASIK</a:t>
            </a:r>
          </a:p>
          <a:p>
            <a:pPr algn="ctr">
              <a:spcAft>
                <a:spcPts val="500"/>
              </a:spcAft>
            </a:pPr>
            <a:r>
              <a:rPr lang="id-ID" sz="1300" dirty="0">
                <a:solidFill>
                  <a:srgbClr val="D4A843"/>
                </a:solidFill>
                <a:latin typeface="Calibri"/>
              </a:rPr>
              <a:t>(Vertikal)</a:t>
            </a:r>
          </a:p>
          <a:p>
            <a:pPr algn="ctr">
              <a:spcAft>
                <a:spcPts val="400"/>
              </a:spcAft>
            </a:pPr>
            <a:r>
              <a:rPr lang="id-ID" sz="1200" dirty="0">
                <a:solidFill>
                  <a:srgbClr val="FFFFFF"/>
                </a:solidFill>
                <a:latin typeface="Calibri"/>
              </a:rPr>
              <a:t>Berlaku saat full employment tercapai.</a:t>
            </a:r>
          </a:p>
          <a:p>
            <a:pPr algn="ctr"/>
            <a:r>
              <a:rPr lang="id-ID" sz="1200" dirty="0">
                <a:solidFill>
                  <a:srgbClr val="FFFFFF"/>
                </a:solidFill>
                <a:latin typeface="Calibri"/>
              </a:rPr>
              <a:t>Kenaikan AD hanya menaikkan harga, output tidak bertambah.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3b. Mengapa Kurva AS Melengkung?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Dari kiri-bawah ke kanan-atas</a:t>
            </a:r>
          </a:p>
        </p:txBody>
      </p:sp>
      <p:sp>
        <p:nvSpPr>
          <p:cNvPr id="10" name="narasi"/>
          <p:cNvSpPr txBox="1"/>
          <p:nvPr/>
        </p:nvSpPr>
        <p:spPr>
          <a:xfrm>
            <a:off x="540000" y="1080000"/>
            <a:ext cx="7920000" cy="48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700"/>
              </a:spcAft>
            </a:pPr>
            <a:r>
              <a:rPr lang="id-ID" sz="1500" dirty="0">
                <a:solidFill>
                  <a:srgbClr val="2C3E50"/>
                </a:solidFill>
                <a:latin typeface="Calibri"/>
              </a:rPr>
              <a:t>Bentuk lengkung disebabkan oleh perubahan pemanfaatan kapasitas dan biaya produksi seiring kenaikan output:</a:t>
            </a:r>
          </a:p>
          <a:p>
            <a:pPr algn="l">
              <a:spcAft>
                <a:spcPts val="300"/>
              </a:spcAft>
            </a:pPr>
            <a:r>
              <a:rPr lang="id-ID" sz="1500" b="1" dirty="0">
                <a:solidFill>
                  <a:srgbClr val="27AE60"/>
                </a:solidFill>
                <a:latin typeface="Calibri"/>
              </a:rPr>
              <a:t>❯ Output Rendah (bagian landai)</a:t>
            </a:r>
          </a:p>
          <a:p>
            <a:pPr algn="l">
              <a:spcAft>
                <a:spcPts val="6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  Banyak kapasitas menganggur → biaya marjinal hampir konstan → sedikit kenaikan harga cukup merangsang kenaikan output besar.</a:t>
            </a:r>
          </a:p>
          <a:p>
            <a:pPr algn="l">
              <a:spcAft>
                <a:spcPts val="300"/>
              </a:spcAft>
            </a:pPr>
            <a:r>
              <a:rPr lang="id-ID" sz="1500" b="1" dirty="0">
                <a:solidFill>
                  <a:srgbClr val="E67E22"/>
                </a:solidFill>
                <a:latin typeface="Calibri"/>
              </a:rPr>
              <a:t>❯ Output Menengah (bagian mulai curam)</a:t>
            </a:r>
          </a:p>
          <a:p>
            <a:pPr algn="l">
              <a:spcAft>
                <a:spcPts val="6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  Sebagian sumber daya langka → upah lembur, mesin kurang efisien → biaya per unit meningkat (diminishing returns).</a:t>
            </a:r>
          </a:p>
          <a:p>
            <a:pPr algn="l">
              <a:spcAft>
                <a:spcPts val="300"/>
              </a:spcAft>
            </a:pPr>
            <a:r>
              <a:rPr lang="id-ID" sz="1500" b="1" dirty="0">
                <a:solidFill>
                  <a:srgbClr val="C0392B"/>
                </a:solidFill>
                <a:latin typeface="Calibri"/>
              </a:rPr>
              <a:t>❯ Mendekati Full Employment (hampir vertikal)</a:t>
            </a:r>
          </a:p>
          <a:p>
            <a:pPr algn="l">
              <a:spcAft>
                <a:spcPts val="800"/>
              </a:spcAft>
            </a:pPr>
            <a:r>
              <a:rPr lang="id-ID" sz="1400" dirty="0">
                <a:solidFill>
                  <a:srgbClr val="2C3E50"/>
                </a:solidFill>
                <a:latin typeface="Calibri"/>
              </a:rPr>
              <a:t>  Hampir semua faktor produksi terpakai → kenaikan AD lebih banyak diserap kenaikan harga daripada kenaikan output.</a:t>
            </a:r>
          </a:p>
          <a:p>
            <a:pPr algn="ctr"/>
            <a:r>
              <a:rPr lang="id-ID" sz="1500" b="1" dirty="0">
                <a:solidFill>
                  <a:srgbClr val="2E5B8A"/>
                </a:solidFill>
                <a:latin typeface="Calibri"/>
              </a:rPr>
              <a:t>Penyebab utama: Hukum Hasil Lebih yang Semakin Berkurang (Diminishing Returns)</a:t>
            </a:r>
          </a:p>
        </p:txBody>
      </p:sp>
    </p:spTree>
  </p:cSld>
</p:sld>
</file>

<file path=ppt/slides/slide10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header_bar"/><p:cNvSpPr/><p:nvPr/></p:nvSpPr>
      <p:spPr>
        <a:xfrm><a:off x="0" y="0"/><a:ext cx="9144000" cy="792000"/></a:xfrm>
        <a:prstGeom prst="rect"><a:avLst/></a:prstGeom>
        <a:solidFill><a:srgbClr val="1B3A5C"/></a:solidFill>
        <a:ln><a:noFill/></a:ln>
      </p:spPr>
    </p:sp><p:sp>
      <p:nvSpPr><p:cNvPr id="3" name="accent_line"/><p:cNvSpPr/><p:nvPr/></p:nvSpPr>
      <p:spPr>
        <a:xfrm><a:off x="0" y="792000"/><a:ext cx="9144000" cy="28800"/></a:xfrm>
        <a:prstGeom prst="rect"><a:avLst/></a:prstGeom>
        <a:solidFill><a:srgbClr val="D4A843"/></a:solidFill>
        <a:ln><a:noFill/></a:ln>
      </p:spPr>
    </p:sp><p:sp>
      <p:nvSpPr><p:cNvPr id="4" name="title"/><p:cNvSpPr txBox="1"/><p:nvPr/></p:nvSpPr>
      <p:spPr>
        <a:xfrm><a:off x="540000" y="108000"/><a:ext cx="7920000" cy="54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2800" b="1" dirty="0">
            <a:solidFill><a:srgbClr val="FFFFFF"/></a:solidFill>
            <a:latin typeface="Calibri"/>
          </a:rPr><a:t>4a. Keseimbangan AD-AS</a:t></a:r>
        </a:p>
      </p:txBody>
    </p:sp><p:sp>
      <p:nvSpPr><p:cNvPr id="5" name="subtitle"/><p:cNvSpPr txBox="1"/><p:nvPr/></p:nvSpPr>
      <p:spPr>
        <a:xfrm><a:off x="540000" y="503999"/><a:ext cx="7920000" cy="288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600" dirty="0">
            <a:solidFill><a:srgbClr val="D4A843"/></a:solidFill>
            <a:latin typeface="Calibri"/>
          </a:rPr><a:t>Bagaimana tercapai?</a:t></a:r>
        </a:p>
      </p:txBody>
    </p:sp><p:sp>
      <p:nvSpPr><p:cNvPr id="10" name="narasi"/><p:cNvSpPr txBox="1"/><p:nvPr/></p:nvSpPr>
      <p:spPr>
        <a:xfrm><a:off x="540000" y="1080000"/><a:ext cx="4680000" cy="4320000"/></a:xfrm>
        <a:prstGeom prst="rect"><a:avLst/></a:prstGeom>
        <a:noFill/>
      </p:spPr>
      <p:txBody>
        <a:bodyPr wrap="square" anchor="t"/>
        <a:lstStyle/>
        <a:p>
          <a:pPr algn="l"><a:spcAft><a:spcPts val="400"/></a:spcAft></a:pPr>
          <a:r><a:rPr lang="id-ID" sz="1500" dirty="0">
            <a:solidFill><a:srgbClr val="2C3E50"/></a:solidFill>
            <a:latin typeface="Calibri"/>
          </a:rPr><a:t>Keseimbangan tercapai pada titik potong AD dan AS yang menentukan:</a:t></a:r>
        </a:p><a:p>
          <a:pPr algn="l"><a:spcAft><a:spcPts val="200"/></a:spcAft></a:pPr>
          <a:r><a:rPr lang="id-ID" sz="1500" b="1" dirty="0">
            <a:solidFill><a:srgbClr val="2E5B8A"/></a:solidFill>
            <a:latin typeface="Calibri"/>
          </a:rPr><a:t>• Tingkat harga keseimbangan (P*)</a:t></a:r>
        </a:p><a:p>
          <a:pPr algn="l"><a:spcAft><a:spcPts val="600"/></a:spcAft></a:pPr>
          <a:r><a:rPr lang="id-ID" sz="1500" b="1" dirty="0">
            <a:solidFill><a:srgbClr val="2E5B8A"/></a:solidFill>
            <a:latin typeface="Calibri"/>
          </a:rPr><a:t>• Pendapatan nasional riil keseimbangan (Y*)</a:t></a:r>
        </a:p><a:p>
          <a:pPr algn="l"><a:spcAft><a:spcPts val="400"/></a:spcAft></a:pPr>
          <a:r><a:rPr lang="id-ID" sz="1500" b="1" dirty="0">
            <a:solidFill><a:srgbClr val="2C3E50"/></a:solidFill>
            <a:latin typeface="Calibri"/>
          </a:rPr><a:t>Mekanisme penyesuaian:</a:t></a:r>
        </a:p><a:p>
          <a:pPr algn="l"><a:spcAft><a:spcPts val="300"/></a:spcAft></a:pPr>
          <a:r><a:rPr lang="id-ID" sz="1400" dirty="0">
            <a:solidFill><a:srgbClr val="C0392B"/></a:solidFill>
            <a:latin typeface="Calibri"/>
          </a:rPr><a:t>Jika P > P*: kelebihan produksi → harga turun</a:t></a:r>
        </a:p><a:p>
          <a:pPr algn="l"><a:spcAft><a:spcPts val="500"/></a:spcAft></a:pPr>
          <a:r><a:rPr lang="id-ID" sz="1400" dirty="0">
            <a:solidFill><a:srgbClr val="27AE60"/></a:solidFill>
            <a:latin typeface="Calibri"/>
          </a:rPr><a:t>Jika P < P*: kekurangan barang → harga naik</a:t></a:r>
        </a:p><a:p>
          <a:pPr algn="l"></a:pPr>
          <a:r><a:rPr lang="id-ID" sz="1400" dirty="0">
            <a:solidFill><a:srgbClr val="2C3E50"/></a:solidFill>
            <a:latin typeface="Calibri"/>
          </a:rPr><a:t>Pada titik E: Qty diminta = Qty ditawarkan → tidak ada dorongan berubah.</a:t></a:r>
        </a:p>
      </p:txBody>
    </p:sp><p:sp>
      <p:nvSpPr><p:cNvPr id="30" name="graph"/><p:cNvSpPr txBox="1"/><p:nvPr/></p:nvSpPr>
      <p:spPr>
        <a:xfrm><a:off x="5400000" y="1260000"/><a:ext cx="3240000" cy="3240000"/></a:xfrm>
        <a:prstGeom prst="roundRect"><a:avLst/></a:prstGeom>
        <a:solidFill><a:srgbClr val="1B3A5C"/></a:solidFill>
        <a:ln w="19050"><a:solidFill><a:srgbClr val="D4A843"/></a:solidFill></a:ln>
      </p:spPr>
      <p:txBody>
        <a:bodyPr wrap="square" anchor="ctr" lIns="91440" rIns="91440" tIns="45720" bIns="45720"/>
        <a:lstStyle/>
        <a:p>
          <a:pPr algn="l"><a:spcAft><a:spcPts val="200"/></a:spcAft></a:pPr>
          <a:r><a:rPr lang="id-ID" sz="1600" b="1" dirty="0">
            <a:solidFill><a:srgbClr val="D4A843"/></a:solidFill>
            <a:latin typeface="Calibri"/>
          </a:rPr><a:t>P</a:t></a:r>
        </a:p><a:p>
          <a:pPr algn="l"><a:spcAft><a:spcPts val="150"/></a:spcAft></a:pPr>
          <a:r><a:rPr lang="id-ID" sz="1400" dirty="0">
            <a:solidFill><a:srgbClr val="FFFFFF"/></a:solidFill>
            <a:latin typeface="Calibri"/>
          </a:rPr><a:t> ↑    /AS</a:t></a:r>
        </a:p><a:p>
          <a:pPr algn="l"><a:spcAft><a:spcPts val="150"/></a:spcAft></a:pPr>
          <a:r><a:rPr lang="id-ID" sz="1400" dirty="0">
            <a:solidFill><a:srgbClr val="FFFFFF"/></a:solidFill>
            <a:latin typeface="Calibri"/>
          </a:rPr><a:t> |   /   </a:t></a:r>
        </a:p><a:p>
          <a:pPr algn="l"><a:spcAft><a:spcPts val="150"/></a:spcAft></a:pPr>
          <a:r><a:rPr lang="id-ID" sz="1400" dirty="0">
            <a:solidFill><a:srgbClr val="FFFFFF"/></a:solidFill>
            <a:latin typeface="Calibri"/>
          </a:rPr><a:t> |  / </a:t></a:r>
        </a:p><a:p>
          <a:pPr algn="l"><a:spcAft><a:spcPts val="150"/></a:spcAft></a:pPr>
          <a:r><a:rPr lang="id-ID" sz="1400" b="1" dirty="0">
            <a:solidFill><a:srgbClr val="D4A843"/></a:solidFill>
            <a:latin typeface="Calibri"/>
          </a:rPr><a:t>P*|- E</a:t></a:r>
        </a:p><a:p>
          <a:pPr algn="l"><a:spcAft><a:spcPts val="150"/></a:spcAft></a:pPr>
          <a:r><a:rPr lang="id-ID" sz="1400" dirty="0">
            <a:solidFill><a:srgbClr val="FFFFFF"/></a:solidFill>
            <a:latin typeface="Calibri"/>
          </a:rPr><a:t> |/  \</a:t></a:r>
        </a:p><a:p>
          <a:pPr algn="l"><a:spcAft><a:spcPts val="150"/></a:spcAft></a:pPr>
          <a:r><a:rPr lang="id-ID" sz="1400" dirty="0">
            <a:solidFill><a:srgbClr val="FFFFFF"/></a:solidFill>
            <a:latin typeface="Calibri"/>
          </a:rPr><a:t> |     \AD</a:t></a:r>
        </a:p><a:p>
          <a:pPr algn="l"><a:spcAft><a:spcPts val="100"/></a:spcAft></a:pPr>
          <a:r><a:rPr lang="id-ID" sz="1400" dirty="0">
            <a:solidFill><a:srgbClr val="FFFFFF"/></a:solidFill>
            <a:latin typeface="Calibri"/>
          </a:rPr><a:t> |_______→ Y</a:t></a:r>
        </a:p><a:p>
          <a:pPr algn="l"></a:pPr>
          <a:r><a:rPr lang="id-ID" sz="1300" b="1" dirty="0">
            <a:solidFill><a:srgbClr val="D4A843"/></a:solidFill>
            <a:latin typeface="Calibri"/>
          </a:rPr><a:t>      Y*</a:t></a:r>
        </a:p>
      </p:txBody>
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4b. Dampak Perdagangan Luar Negeri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Ekspor vs Impor terhadap keseimbangan AD-AS</a:t>
            </a:r>
          </a:p>
        </p:txBody>
      </p:sp>
      <p:sp>
        <p:nvSpPr>
          <p:cNvPr id="10" name="export"/>
          <p:cNvSpPr txBox="1"/>
          <p:nvPr/>
        </p:nvSpPr>
        <p:spPr>
          <a:xfrm>
            <a:off x="360000" y="1152000"/>
            <a:ext cx="4140000" cy="432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500"/>
              </a:spcAft>
            </a:pPr>
            <a:r>
              <a:rPr lang="id-ID" sz="1600" b="1" dirty="0">
                <a:solidFill>
                  <a:srgbClr val="FFFFFF"/>
                </a:solidFill>
                <a:latin typeface="Calibri"/>
              </a:rPr>
              <a:t>EKSPOR MENINGKAT</a:t>
            </a:r>
          </a:p>
          <a:p>
            <a:pPr algn="ctr">
              <a:spcAft>
                <a:spcPts val="500"/>
              </a:spcAft>
            </a:pPr>
            <a:r>
              <a:rPr lang="id-ID" sz="1400" b="1" dirty="0">
                <a:solidFill>
                  <a:srgbClr val="D4A843"/>
                </a:solidFill>
                <a:latin typeface="Calibri"/>
              </a:rPr>
              <a:t>→ AD bergeser ke KANAN</a:t>
            </a:r>
          </a:p>
          <a:p>
            <a:pPr algn="l">
              <a:spcAft>
                <a:spcPts val="300"/>
              </a:spcAft>
            </a:pPr>
            <a:r>
              <a:rPr lang="id-ID" sz="1400" b="1" dirty="0">
                <a:solidFill>
                  <a:srgbClr val="FFFFFF"/>
                </a:solidFill>
                <a:latin typeface="Calibri"/>
              </a:rPr>
              <a:t>Dampak: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Y naik (pendapatan riil ↑)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P naik (tingkat harga ↑)</a:t>
            </a:r>
          </a:p>
          <a:p>
            <a:pPr algn="l"/>
            <a:r>
              <a:rPr lang="id-ID" sz="1300" dirty="0">
                <a:solidFill>
                  <a:srgbClr val="FFFFFF"/>
                </a:solidFill>
                <a:latin typeface="Calibri"/>
              </a:rPr>
              <a:t>• Pengangguran berkurang</a:t>
            </a:r>
          </a:p>
        </p:txBody>
      </p:sp>
      <p:sp>
        <p:nvSpPr>
          <p:cNvPr id="20" name="import"/>
          <p:cNvSpPr txBox="1"/>
          <p:nvPr/>
        </p:nvSpPr>
        <p:spPr>
          <a:xfrm>
            <a:off x="4752000" y="1152000"/>
            <a:ext cx="4140000" cy="432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500"/>
              </a:spcAft>
            </a:pPr>
            <a:r>
              <a:rPr lang="id-ID" sz="1600" b="1" dirty="0">
                <a:solidFill>
                  <a:srgbClr val="FFFFFF"/>
                </a:solidFill>
                <a:latin typeface="Calibri"/>
              </a:rPr>
              <a:t>IMPOR MENINGKAT</a:t>
            </a:r>
          </a:p>
          <a:p>
            <a:pPr algn="ctr">
              <a:spcAft>
                <a:spcPts val="500"/>
              </a:spcAft>
            </a:pPr>
            <a:r>
              <a:rPr lang="id-ID" sz="1400" b="1" dirty="0">
                <a:solidFill>
                  <a:srgbClr val="D4A843"/>
                </a:solidFill>
                <a:latin typeface="Calibri"/>
              </a:rPr>
              <a:t>→ AD bergeser ke KIRI</a:t>
            </a:r>
          </a:p>
          <a:p>
            <a:pPr algn="l">
              <a:spcAft>
                <a:spcPts val="300"/>
              </a:spcAft>
            </a:pPr>
            <a:r>
              <a:rPr lang="id-ID" sz="1400" b="1" dirty="0">
                <a:solidFill>
                  <a:srgbClr val="FFFFFF"/>
                </a:solidFill>
                <a:latin typeface="Calibri"/>
              </a:rPr>
              <a:t>Dampak: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Y turun (pendapatan riil ↓)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P turun (tekanan deflasi)</a:t>
            </a:r>
          </a:p>
          <a:p>
            <a:pPr algn="l"/>
            <a:r>
              <a:rPr lang="id-ID" sz="1300" dirty="0">
                <a:solidFill>
                  <a:srgbClr val="FFFFFF"/>
                </a:solidFill>
                <a:latin typeface="Calibri"/>
              </a:rPr>
              <a:t>• Pengangguran bertambah</a:t>
            </a:r>
          </a:p>
        </p:txBody>
      </p:sp>
    </p:spTree>
  </p:cSld>
</p:sld>
</file>

<file path=ppt/slides/slide12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header_bar"/><p:cNvSpPr/><p:nvPr/></p:nvSpPr>
      <p:spPr>
        <a:xfrm><a:off x="0" y="0"/><a:ext cx="9144000" cy="792000"/></a:xfrm>
        <a:prstGeom prst="rect"><a:avLst/></a:prstGeom>
        <a:solidFill><a:srgbClr val="1B3A5C"/></a:solidFill>
        <a:ln><a:noFill/></a:ln>
      </p:spPr>
    </p:sp><p:sp>
      <p:nvSpPr><p:cNvPr id="3" name="accent_line"/><p:cNvSpPr/><p:nvPr/></p:nvSpPr>
      <p:spPr>
        <a:xfrm><a:off x="0" y="792000"/><a:ext cx="9144000" cy="28800"/></a:xfrm>
        <a:prstGeom prst="rect"><a:avLst/></a:prstGeom>
        <a:solidFill><a:srgbClr val="D4A843"/></a:solidFill>
        <a:ln><a:noFill/></a:ln>
      </p:spPr>
    </p:sp><p:sp>
      <p:nvSpPr><p:cNvPr id="4" name="title"/><p:cNvSpPr txBox="1"/><p:nvPr/></p:nvSpPr>
      <p:spPr>
        <a:xfrm><a:off x="540000" y="108000"/><a:ext cx="7920000" cy="54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2800" b="1" dirty="0">
            <a:solidFill><a:srgbClr val="FFFFFF"/></a:solidFill>
            <a:latin typeface="Calibri"/>
          </a:rPr><a:t>5a. Kenaikan Pengeluaran Pemerintah & Investasi</a:t></a:r>
        </a:p>
      </p:txBody>
    </p:sp><p:sp>
      <p:nvSpPr><p:cNvPr id="5" name="subtitle"/><p:cNvSpPr txBox="1"/><p:nvPr/></p:nvSpPr>
      <p:spPr>
        <a:xfrm><a:off x="540000" y="503999"/><a:ext cx="7920000" cy="288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600" dirty="0">
            <a:solidFill><a:srgbClr val="D4A843"/></a:solidFill>
            <a:latin typeface="Calibri"/>
          </a:rPr><a:t>Pergeseran AD ke kanan</a:t></a:r>
        </a:p>
      </p:txBody>
    </p:sp><p:sp>
      <p:nvSpPr><p:cNvPr id="10" name="narasi"/><p:cNvSpPr txBox="1"/><p:nvPr/></p:nvSpPr>
      <p:spPr>
        <a:xfrm><a:off x="540000" y="1080000"/><a:ext cx="7920000" cy="4680000"/></a:xfrm>
        <a:prstGeom prst="rect"><a:avLst/></a:prstGeom>
        <a:noFill/>
      </p:spPr>
      <p:txBody>
        <a:bodyPr wrap="square" anchor="t"/>
        <a:lstStyle/>
        <a:p>
          <a:pPr algn="l"><a:spcAft><a:spcPts val="700"/></a:spcAft></a:pPr>
          <a:r><a:rPr lang="id-ID" sz="1500" dirty="0">
            <a:solidFill><a:srgbClr val="2C3E50"/></a:solidFill>
            <a:latin typeface="Calibri"/>
          </a:rPr><a:t>Pengeluaran pemerintah (G) dan investasi (I) adalah komponen langsung pengeluaran agregat. Kenaikan keduanya menggeser kurva AD ke kanan, sementara AS tetap.</a:t></a:r>
        </a:p><a:p>
          <a:pPr algn="l"><a:spcAft><a:spcPts val="400"/></a:spcAft></a:pPr>
          <a:r><a:rPr lang="id-ID" sz="1500" b="1" dirty="0">
            <a:solidFill><a:srgbClr val="2C3E50"/></a:solidFill>
            <a:latin typeface="Calibri"/>
          </a:rPr><a:t>Dampak keseimbangan baru:</a:t></a:r>
        </a:p><a:p>
          <a:pPr algn="l"><a:spcAft><a:spcPts val="300"/></a:spcAft></a:pPr>
          <a:r><a:rPr lang="id-ID" sz="1500" dirty="0">
            <a:solidFill><a:srgbClr val="27AE60"/></a:solidFill>
            <a:latin typeface="Calibri"/>
          </a:rPr><a:t>•  Pendapatan nasional riil NAIK (Y₀ → Y₁)</a:t></a:r>
        </a:p><a:p>
          <a:pPr algn="l"><a:spcAft><a:spcPts val="300"/></a:spcAft></a:pPr>
          <a:r><a:rPr lang="id-ID" sz="1500" dirty="0">
            <a:solidFill><a:srgbClr val="C0392B"/></a:solidFill>
            <a:latin typeface="Calibri"/>
          </a:rPr><a:t>•  Tingkat harga NAIK (P₀ → P₁) — demand-pull inflation</a:t></a:r>
        </a:p><a:p>
          <a:pPr algn="l"><a:spcAft><a:spcPts val="800"/></a:spcAft></a:pPr>
          <a:r><a:rPr lang="id-ID" sz="1500" dirty="0">
            <a:solidFill><a:srgbClr val="27AE60"/></a:solidFill>
            <a:latin typeface="Calibri"/>
          </a:rPr><a:t>•  Kesempatan kerja BERTAMBAH</a:t></a:r>
        </a:p><a:p>
          <a:pPr algn="l"><a:spcAft><a:spcPts val="300"/></a:spcAft></a:pPr>
          <a:r><a:rPr lang="id-ID" sz="1400" b="1" dirty="0">
            <a:solidFill><a:srgbClr val="2C3E50"/></a:solidFill>
            <a:latin typeface="Calibri"/>
          </a:rPr><a:t>Catatan penting:</a:t></a:r>
        </a:p><a:p>
          <a:pPr algn="l"><a:spcAft><a:spcPts val="200"/></a:spcAft></a:pPr>
          <a:r><a:rPr lang="id-ID" sz="1400" dirty="0">
            <a:solidFill><a:srgbClr val="2C3E50"/></a:solidFill>
            <a:latin typeface="Calibri"/>
          </a:rPr><a:t>Di bagian landai kurva AS: output naik banyak, harga naik sedikit.</a:t></a:r>
        </a:p><a:p>
          <a:pPr algn="l"></a:pPr>
          <a:r><a:rPr lang="id-ID" sz="1400" dirty="0">
            <a:solidFill><a:srgbClr val="2C3E50"/></a:solidFill>
            <a:latin typeface="Calibri"/>
          </a:rPr><a:t>Di bagian curam kurva AS: harga naik banyak, output naik sedikit.</a:t></a:r>
        </a:p>
      </p:txBody>
    </p:sp>
    </p:spTree>
  </p:cSld>
</p:sld>
</file>

<file path=ppt/slides/slide13.xml><?xml version="1.0" encoding="UTF-8" standalone="yes"?>
<p:sld xmlns:a="http://schemas.openxmlformats.org/drawingml/2006/main"
  xmlns:r="http://schemas.openxmlformats.org/officeDocument/2006/relationships"
 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<p:nvSpPr><p:cNvPr id="2" name="header_bar"/><p:cNvSpPr/><p:nvPr/></p:nvSpPr>
      <p:spPr>
        <a:xfrm><a:off x="0" y="0"/><a:ext cx="9144000" cy="792000"/></a:xfrm>
        <a:prstGeom prst="rect"><a:avLst/></a:prstGeom>
        <a:solidFill><a:srgbClr val="1B3A5C"/></a:solidFill>
        <a:ln><a:noFill/></a:ln>
      </p:spPr>
    </p:sp><p:sp>
      <p:nvSpPr><p:cNvPr id="3" name="accent_line"/><p:cNvSpPr/><p:nvPr/></p:nvSpPr>
      <p:spPr>
        <a:xfrm><a:off x="0" y="792000"/><a:ext cx="9144000" cy="28800"/></a:xfrm>
        <a:prstGeom prst="rect"><a:avLst/></a:prstGeom>
        <a:solidFill><a:srgbClr val="D4A843"/></a:solidFill>
        <a:ln><a:noFill/></a:ln>
      </p:spPr>
    </p:sp><p:sp>
      <p:nvSpPr><p:cNvPr id="4" name="title"/><p:cNvSpPr txBox="1"/><p:nvPr/></p:nvSpPr>
      <p:spPr>
        <a:xfrm><a:off x="540000" y="108000"/><a:ext cx="7920000" cy="540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2800" b="1" dirty="0">
            <a:solidFill><a:srgbClr val="FFFFFF"/></a:solidFill>
            <a:latin typeface="Calibri"/>
          </a:rPr><a:t>5b. Kemajuan Teknologi & Efisiensi</a:t></a:r>
        </a:p>
      </p:txBody>
    </p:sp><p:sp>
      <p:nvSpPr><p:cNvPr id="5" name="subtitle"/><p:cNvSpPr txBox="1"/><p:nvPr/></p:nvSpPr>
      <p:spPr>
        <a:xfrm><a:off x="540000" y="503999"/><a:ext cx="7920000" cy="288000"/></a:xfrm>
        <a:prstGeom prst="rect"><a:avLst/></a:prstGeom>
        <a:noFill/>
      </p:spPr>
      <p:txBody>
        <a:bodyPr wrap="square" anchor="t"/>
        <a:lstStyle/>
        <a:p>
          <a:pPr algn="l"></a:pPr>
          <a:r><a:rPr lang="id-ID" sz="1600" dirty="0">
            <a:solidFill><a:srgbClr val="D4A843"/></a:solidFill>
            <a:latin typeface="Calibri"/>
          </a:rPr><a:t>Pergeseran AS ke kanan</a:t></a:r>
        </a:p>
      </p:txBody>
    </p:sp><p:sp>
      <p:nvSpPr><p:cNvPr id="10" name="narasi"/><p:cNvSpPr txBox="1"/><p:nvPr/></p:nvSpPr>
      <p:spPr>
        <a:xfrm><a:off x="540000" y="1080000"/><a:ext cx="7920000" cy="2160000"/></a:xfrm>
        <a:prstGeom prst="rect"><a:avLst/></a:prstGeom>
        <a:noFill/>
      </p:spPr>
      <p:txBody>
        <a:bodyPr wrap="square" anchor="t"/>
        <a:lstStyle/>
        <a:p>
          <a:pPr algn="l"><a:spcAft><a:spcPts val="600"/></a:spcAft></a:pPr>
          <a:r><a:rPr lang="id-ID" sz="1500" dirty="0">
            <a:solidFill><a:srgbClr val="2C3E50"/></a:solidFill>
            <a:latin typeface="Calibri"/>
          </a:rPr><a:t>Kemajuan teknologi dan peningkatan efisiensi menurunkan biaya produksi per unit dan meningkatkan produktivitas. Ini menggeser kurva AS ke kanan/ke bawah, sementara AD tetap.</a:t></a:r>
        </a:p><a:p>
          <a:pPr algn="l"></a:pPr>
          <a:r><a:rPr lang="id-ID" sz="1500" b="1" dirty="0">
            <a:solidFill><a:srgbClr val="2C3E50"/></a:solidFill>
            <a:latin typeface="Calibri"/>
          </a:rPr><a:t>Dampak keseimbangan baru:</a:t></a:r>
        </a:p>
      </p:txBody>
    </p:sp><p:sp>
      <p:nvSpPr><p:cNvPr id="20" name="result"/><p:cNvSpPr txBox="1"/><p:nvPr/></p:nvSpPr>
      <p:spPr>
        <a:xfrm><a:off x="720000" y="3240000"/><a:ext cx="7380000" cy="2340000"/></a:xfrm>
        <a:prstGeom prst="roundRect"><a:avLst/></a:prstGeom>
        <a:solidFill><a:srgbClr val="27AE60"/></a:solidFill>
        <a:ln w="19050"><a:solidFill><a:srgbClr val="D4A843"/></a:solidFill></a:ln>
      </p:spPr>
      <p:txBody>
        <a:bodyPr wrap="square" anchor="ctr" lIns="91440" rIns="91440" tIns="45720" bIns="45720"/>
        <a:lstStyle/>
        <a:p>
          <a:pPr algn="ctr"><a:spcAft><a:spcPts val="500"/></a:spcAft></a:pPr>
          <a:r><a:rPr lang="id-ID" sz="1700" b="1" dirty="0">
            <a:solidFill><a:srgbClr val="FFFFFF"/></a:solidFill>
            <a:latin typeface="Calibri"/>
          </a:rPr><a:t>KONDISI IDEAL: Pertumbuhan Tanpa Inflasi</a:t></a:r>
        </a:p><a:p>
          <a:pPr algn="l"><a:spcAft><a:spcPts val="200"/></a:spcAft></a:pPr>
          <a:r><a:rPr lang="id-ID" sz="1400" dirty="0">
            <a:solidFill><a:srgbClr val="D4A843"/></a:solidFill>
            <a:latin typeface="Calibri"/>
          </a:rPr><a:t>• Pendapatan nasional riil NAIK</a:t></a:r>
        </a:p><a:p>
          <a:pPr algn="l"><a:spcAft><a:spcPts val="200"/></a:spcAft></a:pPr>
          <a:r><a:rPr lang="id-ID" sz="1400" dirty="0">
            <a:solidFill><a:srgbClr val="D4A843"/></a:solidFill>
            <a:latin typeface="Calibri"/>
          </a:rPr><a:t>• Tingkat harga TURUN</a:t></a:r>
        </a:p><a:p>
          <a:pPr algn="l"><a:spcAft><a:spcPts val="400"/></a:spcAft></a:pPr>
          <a:r><a:rPr lang="id-ID" sz="1400" dirty="0">
            <a:solidFill><a:srgbClr val="D4A843"/></a:solidFill>
            <a:latin typeface="Calibri"/>
          </a:rPr><a:t>• Kesempatan kerja BERTAMBAH</a:t></a:r>
        </a:p><a:p>
          <a:pPr algn="ctr"></a:pPr>
          <a:r><a:rPr lang="id-ID" sz="1400" b="1" dirty="0">
            <a:solidFill><a:srgbClr val="FFFFFF"/></a:solidFill>
            <a:latin typeface="Calibri"/>
          </a:rPr><a:t>→ Supply-side growth: ekonomi tumbuh tanpa tekanan inflasi</a:t></a:r>
        </a:p>
      </p:txBody>
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5c. Investasi Asing + Teknologi + Tenaga Kerja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0000" y="503999"/>
            <a:ext cx="7920000" cy="28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600" dirty="0">
                <a:solidFill>
                  <a:srgbClr val="D4A843"/>
                </a:solidFill>
                <a:latin typeface="Calibri"/>
              </a:rPr>
              <a:t>AD dan AS sama-sama bergeser ke kanan</a:t>
            </a:r>
          </a:p>
        </p:txBody>
      </p:sp>
      <p:sp>
        <p:nvSpPr>
          <p:cNvPr id="10" name="narasi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id-ID" sz="1500" dirty="0">
                <a:solidFill>
                  <a:srgbClr val="2C3E50"/>
                </a:solidFill>
                <a:latin typeface="Calibri"/>
              </a:rPr>
              <a:t>Skenario ini menggabungkan sisi permintaan dan penawaran secara bersamaan:</a:t>
            </a:r>
          </a:p>
          <a:p>
            <a:pPr algn="l">
              <a:spcAft>
                <a:spcPts val="300"/>
              </a:spcAft>
            </a:pPr>
            <a:r>
              <a:rPr lang="id-ID" sz="1500" dirty="0">
                <a:solidFill>
                  <a:srgbClr val="2E5B8A"/>
                </a:solidFill>
                <a:latin typeface="Calibri"/>
              </a:rPr>
              <a:t>• Investasi asing meningkat → AD bergeser ke kanan</a:t>
            </a:r>
          </a:p>
          <a:p>
            <a:pPr algn="l">
              <a:spcAft>
                <a:spcPts val="700"/>
              </a:spcAft>
            </a:pPr>
            <a:r>
              <a:rPr lang="id-ID" sz="1500" dirty="0">
                <a:solidFill>
                  <a:srgbClr val="27AE60"/>
                </a:solidFill>
                <a:latin typeface="Calibri"/>
              </a:rPr>
              <a:t>• Kemajuan teknologi + tenaga kerja baru → AS bergeser ke kanan</a:t>
            </a:r>
          </a:p>
          <a:p>
            <a:pPr algn="l">
              <a:spcAft>
                <a:spcPts val="400"/>
              </a:spcAft>
            </a:pPr>
            <a:r>
              <a:rPr lang="id-ID" sz="1500" b="1" dirty="0">
                <a:solidFill>
                  <a:srgbClr val="2C3E50"/>
                </a:solidFill>
                <a:latin typeface="Calibri"/>
              </a:rPr>
              <a:t>Dampak keseluruhan:</a:t>
            </a:r>
          </a:p>
          <a:p>
            <a:pPr algn="l">
              <a:spcAft>
                <a:spcPts val="300"/>
              </a:spcAft>
            </a:pPr>
            <a:r>
              <a:rPr lang="id-ID" sz="1500" b="1" dirty="0">
                <a:solidFill>
                  <a:srgbClr val="27AE60"/>
                </a:solidFill>
                <a:latin typeface="Calibri"/>
              </a:rPr>
              <a:t>• Pendapatan nasional riil NAIK SIGNIFIKAN</a:t>
            </a:r>
          </a:p>
          <a:p>
            <a:pPr algn="l">
              <a:spcAft>
                <a:spcPts val="200"/>
              </a:spcAft>
            </a:pPr>
            <a:r>
              <a:rPr lang="id-ID" sz="1500" dirty="0">
                <a:solidFill>
                  <a:srgbClr val="2C3E50"/>
                </a:solidFill>
                <a:latin typeface="Calibri"/>
              </a:rPr>
              <a:t>• Tingkat harga: tergantung dominasi pergeseran</a:t>
            </a:r>
          </a:p>
          <a:p>
            <a:pPr algn="l">
              <a:spcAft>
                <a:spcPts val="200"/>
              </a:spcAft>
            </a:pPr>
            <a:r>
              <a:rPr lang="id-ID" sz="1400" dirty="0">
                <a:solidFill>
                  <a:srgbClr val="27AE60"/>
                </a:solidFill>
                <a:latin typeface="Calibri"/>
              </a:rPr>
              <a:t>    - Jika ΔAS ≥ ΔAD → harga stabil/turun</a:t>
            </a:r>
          </a:p>
          <a:p>
            <a:pPr algn="l">
              <a:spcAft>
                <a:spcPts val="300"/>
              </a:spcAft>
            </a:pPr>
            <a:r>
              <a:rPr lang="id-ID" sz="1400" dirty="0">
                <a:solidFill>
                  <a:srgbClr val="E67E22"/>
                </a:solidFill>
                <a:latin typeface="Calibri"/>
              </a:rPr>
              <a:t>    - Jika ΔAD &gt; ΔAS → harga naik (tapi moderat)</a:t>
            </a:r>
          </a:p>
          <a:p>
            <a:pPr algn="l">
              <a:spcAft>
                <a:spcPts val="700"/>
              </a:spcAft>
            </a:pPr>
            <a:r>
              <a:rPr lang="id-ID" sz="1500" b="1" dirty="0">
                <a:solidFill>
                  <a:srgbClr val="27AE60"/>
                </a:solidFill>
                <a:latin typeface="Calibri"/>
              </a:rPr>
              <a:t>• Kesempatan kerja MENINGKAT TAJAM</a:t>
            </a:r>
          </a:p>
          <a:p>
            <a:pPr algn="ctr"/>
            <a:r>
              <a:rPr lang="id-ID" sz="1500" b="1" dirty="0">
                <a:solidFill>
                  <a:srgbClr val="2E5B8A"/>
                </a:solidFill>
                <a:latin typeface="Calibri"/>
              </a:rPr>
              <a:t>→ Menggambarkan pertumbuhan ekonomi yang sehat dan berkesinambungan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6a. Faktor Penggeser Kurva AS</a:t>
            </a:r>
          </a:p>
        </p:txBody>
      </p:sp>
      <p:sp>
        <p:nvSpPr>
          <p:cNvPr id="10" name="right"/>
          <p:cNvSpPr txBox="1"/>
          <p:nvPr/>
        </p:nvSpPr>
        <p:spPr>
          <a:xfrm>
            <a:off x="288000" y="1080000"/>
            <a:ext cx="4248000" cy="468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AS Geser ke KANAN/BAWAH</a:t>
            </a:r>
          </a:p>
          <a:p>
            <a:pPr algn="ctr">
              <a:spcAft>
                <a:spcPts val="500"/>
              </a:spcAft>
            </a:pPr>
            <a:r>
              <a:rPr lang="id-ID" sz="1200" dirty="0">
                <a:solidFill>
                  <a:srgbClr val="D4A843"/>
                </a:solidFill>
                <a:latin typeface="Calibri"/>
              </a:rPr>
              <a:t>(Penawaran bertambah)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Kemajuan teknologi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Penurunan harga input (upah, energi)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Peningkatan kualitas SDM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Pertambahan faktor produksi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Subsidi / penurunan pajak produksi</a:t>
            </a:r>
          </a:p>
          <a:p>
            <a:pPr algn="l"/>
            <a:r>
              <a:rPr lang="id-ID" sz="1300" dirty="0">
                <a:solidFill>
                  <a:srgbClr val="FFFFFF"/>
                </a:solidFill>
                <a:latin typeface="Calibri"/>
              </a:rPr>
              <a:t>• Regulasi lebih efisien</a:t>
            </a:r>
          </a:p>
        </p:txBody>
      </p:sp>
      <p:sp>
        <p:nvSpPr>
          <p:cNvPr id="20" name="left"/>
          <p:cNvSpPr txBox="1"/>
          <p:nvPr/>
        </p:nvSpPr>
        <p:spPr>
          <a:xfrm>
            <a:off x="4752000" y="1080000"/>
            <a:ext cx="4248000" cy="468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4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AS Geser ke KIRI/ATAS</a:t>
            </a:r>
          </a:p>
          <a:p>
            <a:pPr algn="ctr">
              <a:spcAft>
                <a:spcPts val="500"/>
              </a:spcAft>
            </a:pPr>
            <a:r>
              <a:rPr lang="id-ID" sz="1200" dirty="0">
                <a:solidFill>
                  <a:srgbClr val="D4A843"/>
                </a:solidFill>
                <a:latin typeface="Calibri"/>
              </a:rPr>
              <a:t>(Penawaran berkurang)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Kenaikan upah &gt; produktivitas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Kenaikan harga energi/bahan baku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Kenaikan pajak perusahaan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Bencana alam / perang</a:t>
            </a:r>
          </a:p>
          <a:p>
            <a:pPr algn="l">
              <a:spcAft>
                <a:spcPts val="200"/>
              </a:spcAft>
            </a:pPr>
            <a:r>
              <a:rPr lang="id-ID" sz="1300" dirty="0">
                <a:solidFill>
                  <a:srgbClr val="FFFFFF"/>
                </a:solidFill>
                <a:latin typeface="Calibri"/>
              </a:rPr>
              <a:t>• Depresiasi mata uang (input impor)</a:t>
            </a:r>
          </a:p>
          <a:p>
            <a:pPr algn="l"/>
            <a:r>
              <a:rPr lang="id-ID" sz="1300" dirty="0">
                <a:solidFill>
                  <a:srgbClr val="FFFFFF"/>
                </a:solidFill>
                <a:latin typeface="Calibri"/>
              </a:rPr>
              <a:t>• Regulasi yang memberatkan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6b. Efek Pergeseran AS terhadap Y dan P</a:t>
            </a:r>
          </a:p>
        </p:txBody>
      </p:sp>
      <p:sp>
        <p:nvSpPr>
          <p:cNvPr id="10" name="narasi"/>
          <p:cNvSpPr txBox="1"/>
          <p:nvPr/>
        </p:nvSpPr>
        <p:spPr>
          <a:xfrm>
            <a:off x="540000" y="1080000"/>
            <a:ext cx="7920000" cy="10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1500" dirty="0">
                <a:solidFill>
                  <a:srgbClr val="2C3E50"/>
                </a:solidFill>
                <a:latin typeface="Calibri"/>
              </a:rPr>
              <a:t>Ketika kurva AD tetap, pergeseran AS secara langsung memengaruhi pendapatan nasional riil dan tingkat harga:</a:t>
            </a:r>
          </a:p>
        </p:txBody>
      </p:sp>
      <p:sp>
        <p:nvSpPr>
          <p:cNvPr id="20" name="case1"/>
          <p:cNvSpPr txBox="1"/>
          <p:nvPr/>
        </p:nvSpPr>
        <p:spPr>
          <a:xfrm>
            <a:off x="360000" y="2160000"/>
            <a:ext cx="4140000" cy="306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500"/>
              </a:spcAft>
            </a:pPr>
            <a:r>
              <a:rPr lang="id-ID" sz="1600" b="1" dirty="0">
                <a:solidFill>
                  <a:srgbClr val="FFFFFF"/>
                </a:solidFill>
                <a:latin typeface="Calibri"/>
              </a:rPr>
              <a:t>AS → Kanan (Bawah)</a:t>
            </a:r>
          </a:p>
          <a:p>
            <a:pPr algn="l">
              <a:spcAft>
                <a:spcPts val="200"/>
              </a:spcAft>
            </a:pPr>
            <a:r>
              <a:rPr lang="id-ID" sz="1500" b="1" dirty="0">
                <a:solidFill>
                  <a:srgbClr val="D4A843"/>
                </a:solidFill>
                <a:latin typeface="Calibri"/>
              </a:rPr>
              <a:t>• Y NAIK</a:t>
            </a:r>
          </a:p>
          <a:p>
            <a:pPr algn="l">
              <a:spcAft>
                <a:spcPts val="200"/>
              </a:spcAft>
            </a:pPr>
            <a:r>
              <a:rPr lang="id-ID" sz="1500" b="1" dirty="0">
                <a:solidFill>
                  <a:srgbClr val="D4A843"/>
                </a:solidFill>
                <a:latin typeface="Calibri"/>
              </a:rPr>
              <a:t>• P TURUN</a:t>
            </a:r>
          </a:p>
          <a:p>
            <a:pPr algn="l">
              <a:spcAft>
                <a:spcPts val="500"/>
              </a:spcAft>
            </a:pPr>
            <a:r>
              <a:rPr lang="id-ID" sz="1500" dirty="0">
                <a:solidFill>
                  <a:srgbClr val="D4A843"/>
                </a:solidFill>
                <a:latin typeface="Calibri"/>
              </a:rPr>
              <a:t>• Pengangguran TURUN</a:t>
            </a:r>
          </a:p>
          <a:p>
            <a:pPr algn="ctr"/>
            <a:r>
              <a:rPr lang="id-ID" sz="1400" b="1" dirty="0">
                <a:solidFill>
                  <a:srgbClr val="FFFFFF"/>
                </a:solidFill>
                <a:latin typeface="Calibri"/>
              </a:rPr>
              <a:t>→ Pertumbuhan tanpa inflasi</a:t>
            </a:r>
          </a:p>
        </p:txBody>
      </p:sp>
      <p:sp>
        <p:nvSpPr>
          <p:cNvPr id="30" name="case2"/>
          <p:cNvSpPr txBox="1"/>
          <p:nvPr/>
        </p:nvSpPr>
        <p:spPr>
          <a:xfrm>
            <a:off x="4752000" y="2160000"/>
            <a:ext cx="4140000" cy="306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500"/>
              </a:spcAft>
            </a:pPr>
            <a:r>
              <a:rPr lang="id-ID" sz="1600" b="1" dirty="0">
                <a:solidFill>
                  <a:srgbClr val="FFFFFF"/>
                </a:solidFill>
                <a:latin typeface="Calibri"/>
              </a:rPr>
              <a:t>AS → Kiri (Atas)</a:t>
            </a:r>
          </a:p>
          <a:p>
            <a:pPr algn="l">
              <a:spcAft>
                <a:spcPts val="200"/>
              </a:spcAft>
            </a:pPr>
            <a:r>
              <a:rPr lang="id-ID" sz="1500" b="1" dirty="0">
                <a:solidFill>
                  <a:srgbClr val="D4A843"/>
                </a:solidFill>
                <a:latin typeface="Calibri"/>
              </a:rPr>
              <a:t>• Y TURUN</a:t>
            </a:r>
          </a:p>
          <a:p>
            <a:pPr algn="l">
              <a:spcAft>
                <a:spcPts val="200"/>
              </a:spcAft>
            </a:pPr>
            <a:r>
              <a:rPr lang="id-ID" sz="1500" b="1" dirty="0">
                <a:solidFill>
                  <a:srgbClr val="D4A843"/>
                </a:solidFill>
                <a:latin typeface="Calibri"/>
              </a:rPr>
              <a:t>• P NAIK</a:t>
            </a:r>
          </a:p>
          <a:p>
            <a:pPr algn="l">
              <a:spcAft>
                <a:spcPts val="500"/>
              </a:spcAft>
            </a:pPr>
            <a:r>
              <a:rPr lang="id-ID" sz="1500" dirty="0">
                <a:solidFill>
                  <a:srgbClr val="D4A843"/>
                </a:solidFill>
                <a:latin typeface="Calibri"/>
              </a:rPr>
              <a:t>• Pengangguran NAIK</a:t>
            </a:r>
          </a:p>
          <a:p>
            <a:pPr algn="ctr"/>
            <a:r>
              <a:rPr lang="id-ID" sz="1400" b="1" dirty="0">
                <a:solidFill>
                  <a:srgbClr val="FFFFFF"/>
                </a:solidFill>
                <a:latin typeface="Calibri"/>
              </a:rPr>
              <a:t>→ STAGFLASI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540000" y="5580000"/>
            <a:ext cx="792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id-ID" sz="1300" dirty="0">
                <a:solidFill>
                  <a:srgbClr val="C0392B"/>
                </a:solidFill>
                <a:latin typeface="Calibri"/>
              </a:rPr>
              <a:t>Stagflasi sangat sulit diatasi: kebijakan ekspansif mengatasi resesi tapi memperburuk inflasi, sebaliknya kebijakan kontraktif menurunkan inflasi tapi memperburuk resesi.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ar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accent_line"/>
          <p:cNvSpPr/>
          <p:nvPr/>
        </p:nvSpPr>
        <p:spPr>
          <a:xfrm>
            <a:off x="0" y="792000"/>
            <a:ext cx="9144000" cy="288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40000" y="108000"/>
            <a:ext cx="7920000" cy="5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id-ID" sz="2800" b="1" dirty="0">
                <a:solidFill>
                  <a:srgbClr val="FFFFFF"/>
                </a:solidFill>
                <a:latin typeface="Calibri"/>
              </a:rPr>
              <a:t>RINGKASAN: Efek Pergeseran terhadap Keseimbangan</a:t>
            </a:r>
          </a:p>
        </p:txBody>
      </p:sp>
      <p:sp>
        <p:nvSpPr>
          <p:cNvPr id="10" name="hdr"/>
          <p:cNvSpPr txBox="1"/>
          <p:nvPr/>
        </p:nvSpPr>
        <p:spPr>
          <a:xfrm>
            <a:off x="360000" y="1152000"/>
            <a:ext cx="8280000" cy="648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1400" b="1" dirty="0">
                <a:solidFill>
                  <a:srgbClr val="FFFFFF"/>
                </a:solidFill>
                <a:latin typeface="Calibri"/>
              </a:rPr>
              <a:t>Pergeseran              |  Y (Output)  |  P (Harga)  |  Pengangguran</a:t>
            </a:r>
          </a:p>
        </p:txBody>
      </p:sp>
      <p:sp>
        <p:nvSpPr>
          <p:cNvPr id="20" name="row_0"/>
          <p:cNvSpPr txBox="1"/>
          <p:nvPr/>
        </p:nvSpPr>
        <p:spPr>
          <a:xfrm>
            <a:off x="360000" y="1908000"/>
            <a:ext cx="8280000" cy="720000"/>
          </a:xfrm>
          <a:prstGeom prst="roundRect">
            <a:avLst/>
          </a:prstGeom>
          <a:solidFill>
            <a:srgbClr val="F0F4F0"/>
          </a:solidFill>
          <a:ln w="19050">
            <a:solidFill>
              <a:srgbClr val="27AE6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1300" dirty="0">
                <a:solidFill>
                  <a:srgbClr val="27AE60"/>
                </a:solidFill>
                <a:latin typeface="Calibri"/>
              </a:rPr>
              <a:t>AD ke kanan              |     NAIK      |     NAIK      |     TURUN</a:t>
            </a:r>
          </a:p>
        </p:txBody>
      </p:sp>
      <p:sp>
        <p:nvSpPr>
          <p:cNvPr id="21" name="row_1"/>
          <p:cNvSpPr txBox="1"/>
          <p:nvPr/>
        </p:nvSpPr>
        <p:spPr>
          <a:xfrm>
            <a:off x="360000" y="2700000"/>
            <a:ext cx="8280000" cy="720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392B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1300" dirty="0">
                <a:solidFill>
                  <a:srgbClr val="C0392B"/>
                </a:solidFill>
                <a:latin typeface="Calibri"/>
              </a:rPr>
              <a:t>AD ke kiri              |     TURUN      |     TURUN      |     NAIK</a:t>
            </a:r>
          </a:p>
        </p:txBody>
      </p:sp>
      <p:sp>
        <p:nvSpPr>
          <p:cNvPr id="22" name="row_2"/>
          <p:cNvSpPr txBox="1"/>
          <p:nvPr/>
        </p:nvSpPr>
        <p:spPr>
          <a:xfrm>
            <a:off x="360000" y="3492000"/>
            <a:ext cx="8280000" cy="720000"/>
          </a:xfrm>
          <a:prstGeom prst="roundRect">
            <a:avLst/>
          </a:prstGeom>
          <a:solidFill>
            <a:srgbClr val="F0F4F0"/>
          </a:solidFill>
          <a:ln w="19050">
            <a:solidFill>
              <a:srgbClr val="27AE6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1300" dirty="0">
                <a:solidFill>
                  <a:srgbClr val="27AE60"/>
                </a:solidFill>
                <a:latin typeface="Calibri"/>
              </a:rPr>
              <a:t>AS ke kanan              |     NAIK      |     TURUN      |     TURUN</a:t>
            </a:r>
          </a:p>
        </p:txBody>
      </p:sp>
      <p:sp>
        <p:nvSpPr>
          <p:cNvPr id="23" name="row_3"/>
          <p:cNvSpPr txBox="1"/>
          <p:nvPr/>
        </p:nvSpPr>
        <p:spPr>
          <a:xfrm>
            <a:off x="360000" y="4284000"/>
            <a:ext cx="8280000" cy="7200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392B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id-ID" sz="1300" dirty="0">
                <a:solidFill>
                  <a:srgbClr val="C0392B"/>
                </a:solidFill>
                <a:latin typeface="Calibri"/>
              </a:rPr>
              <a:t>AS ke kiri              |     TURUN      |     NAIK      |     NAIK</a:t>
            </a:r>
          </a:p>
        </p:txBody>
      </p:sp>
      <p:sp>
        <p:nvSpPr>
          <p:cNvPr id="40" name="insight"/>
          <p:cNvSpPr txBox="1"/>
          <p:nvPr/>
        </p:nvSpPr>
        <p:spPr>
          <a:xfrm>
            <a:off x="720000" y="5220000"/>
            <a:ext cx="7560000" cy="1080000"/>
          </a:xfrm>
          <a:prstGeom prst="roundRect">
            <a:avLst/>
          </a:prstGeom>
          <a:solidFill>
            <a:srgbClr val="2E5B8A"/>
          </a:solidFill>
          <a:ln w="19050">
            <a:solidFill>
              <a:srgbClr val="D4A843"/>
            </a:solidFill>
          </a:ln>
        </p:spPr>
        <p:txBody>
          <a:bodyPr wrap="square" anchor="ctr" lIns="91440" rIns="91440" tIns="45720" bIns="45720"/>
          <a:lstStyle/>
          <a:p>
            <a:pPr algn="ctr">
              <a:spcAft>
                <a:spcPts val="300"/>
              </a:spcAft>
            </a:pPr>
            <a:r>
              <a:rPr lang="id-ID" sz="1500" b="1" dirty="0">
                <a:solidFill>
                  <a:srgbClr val="FFFFFF"/>
                </a:solidFill>
                <a:latin typeface="Calibri"/>
              </a:rPr>
              <a:t>Insight Utama</a:t>
            </a:r>
          </a:p>
          <a:p>
            <a:pPr algn="ctr"/>
            <a:r>
              <a:rPr lang="id-ID" sz="1300" dirty="0">
                <a:solidFill>
                  <a:srgbClr val="D4A843"/>
                </a:solidFill>
                <a:latin typeface="Calibri"/>
              </a:rPr>
              <a:t>Pergeseran AD → Y dan P bergerak SEARAH | Pergeseran AS → Y dan P bergerak BERLAWANAN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" name="stripe"/>
          <p:cNvSpPr/>
          <p:nvPr/>
        </p:nvSpPr>
        <p:spPr>
          <a:xfrm>
            <a:off x="0" y="3060000"/>
            <a:ext cx="9144000" cy="54000"/>
          </a:xfrm>
          <a:prstGeom prst="rect">
            <a:avLst/>
          </a:prstGeom>
          <a:solidFill>
            <a:srgbClr val="D4A843"/>
          </a:solidFill>
          <a:ln>
            <a:noFill/>
          </a:ln>
        </p:spPr>
      </p:sp>
      <p:sp>
        <p:nvSpPr>
          <p:cNvPr id="4" name="thanks"/>
          <p:cNvSpPr txBox="1"/>
          <p:nvPr/>
        </p:nvSpPr>
        <p:spPr>
          <a:xfrm>
            <a:off x="720000" y="1620000"/>
            <a:ext cx="7560000" cy="14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id-ID" sz="4000" b="1" dirty="0">
                <a:solidFill>
                  <a:srgbClr val="FFFFFF"/>
                </a:solidFill>
                <a:latin typeface="Calibri"/>
              </a:rPr>
              <a:t>Terima Kasih</a:t>
            </a:r>
          </a:p>
          <a:p>
            <a:pPr algn="ctr"/>
            <a:r>
              <a:rPr lang="id-ID" sz="2200" dirty="0">
                <a:solidFill>
                  <a:srgbClr val="D4A843"/>
                </a:solidFill>
                <a:latin typeface="Calibri"/>
              </a:rPr>
              <a:t>Sesi Tanya Jawab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20000" y="4320000"/>
            <a:ext cx="7560000" cy="10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id-ID" sz="1400" dirty="0">
                <a:solidFill>
                  <a:srgbClr val="ECF0F1"/>
                </a:solidFill>
                <a:latin typeface="Calibri"/>
              </a:rPr>
              <a:t>Analisis AD-AS | Ekonomi Makro</a:t>
            </a:r>
          </a:p>
        </p:txBody>
      </p:sp>
    </p:spTree>
  </p:cSld>
</p:sld>
</file>

<file path=ppt/theme/theme1.xml><?xml version="1.0" encoding="utf-8"?>
<a:theme xmlns:a="http://schemas.openxmlformats.org/drawingml/2006/main" name="AD-AS Theme">
  <a:themeElements>
    <a:clrScheme name="Custom">
      <a:dk1>
        <a:srgbClr val="2C3E50"/>
      </a:dk1>
      <a:lt1>
        <a:srgbClr val="FFFFFF"/>
      </a:lt1>
      <a:dk2>
        <a:srgbClr val="1B3A5C"/>
      </a:dk2>
      <a:lt2>
        <a:srgbClr val="ECF0F1"/>
      </a:lt2>
      <a:accent1>
        <a:srgbClr val="2E5B8A"/>
      </a:accent1>
      <a:accent2>
        <a:srgbClr val="C0392B"/>
      </a:accent2>
      <a:accent3>
        <a:srgbClr val="27AE60"/>
      </a:accent3>
      <a:accent4>
        <a:srgbClr val="D4A843"/>
      </a:accent4>
      <a:accent5>
        <a:srgbClr val="8E44AD"/>
      </a:accent5>
      <a:accent6>
        <a:srgbClr val="E67E22"/>
      </a:accent6>
      <a:hlink>
        <a:srgbClr val="4A90D9"/>
      </a:hlink>
      <a:folHlink>
        <a:srgbClr val="8E44AD"/>
      </a:folHlink>
    </a:clrScheme>
    <a:fontScheme name="Custo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